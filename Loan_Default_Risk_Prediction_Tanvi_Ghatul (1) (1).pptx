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C1D9B-5814-4C04-A780-6B176A3C5D85}" v="84" dt="2026-10-26T17:02:34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88A8F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B2545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Dummy Classifier</c:v>
                </c:pt>
                <c:pt idx="1">
                  <c:v>Logistic Regression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0.374</c:v>
                </c:pt>
                <c:pt idx="2">
                  <c:v>0.38800000000000001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6A6-4B77-9D69-574D8ADBE8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F26D6D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B2545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Dummy Classifier</c:v>
                </c:pt>
                <c:pt idx="1">
                  <c:v>Logistic Regression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0.72499999999999998</c:v>
                </c:pt>
                <c:pt idx="2">
                  <c:v>0.72499999999999998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6A6-4B77-9D69-574D8ADBE8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00"/>
                  <a:t>Model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>
              <a:solidFill>
                <a:srgbClr val="E3E9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/>
                  <a:t>Validation Metric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200">
          <a:solidFill>
            <a:srgbClr val="0B2545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34967" y="1549549"/>
            <a:ext cx="3236258" cy="2198594"/>
          </a:xfrm>
          <a:prstGeom prst="roundRect">
            <a:avLst>
              <a:gd name="adj" fmla="val 12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28200" y="2147944"/>
            <a:ext cx="2960145" cy="913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AI + Financial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Analytics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D9F2F3"/>
                </a:solidFill>
                <a:latin typeface="Calibri"/>
              </a:rPr>
              <a:t>Credit-risk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3974" y="3944021"/>
            <a:ext cx="3422724" cy="106769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2357" y="1417320"/>
            <a:ext cx="524704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EA8AD"/>
                </a:solidFill>
                <a:latin typeface="Calibri"/>
              </a:rPr>
              <a:t>DATA SCIENCE INTERNSHIP PROJECT</a:t>
            </a:r>
            <a:endParaRPr lang="en-US" sz="1600" b="1" i="0">
              <a:solidFill>
                <a:srgbClr val="2EA8A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82357" y="1977165"/>
            <a:ext cx="5429923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Loan Default</a:t>
            </a:r>
            <a:endParaRPr lang="en-US" sz="50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Risk Prediction</a:t>
            </a:r>
            <a:endParaRPr sz="50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83254" y="3910404"/>
            <a:ext cx="1371600" cy="6400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82357" y="4297680"/>
            <a:ext cx="5064163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Presented by: Tanvi Ghatul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Domain: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2357" y="5897880"/>
            <a:ext cx="506416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2EA8AD"/>
                </a:solidFill>
                <a:latin typeface="Calibri"/>
              </a:rPr>
              <a:t>Machine learning for data-driven credit-risk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Using machine learning to identify borrowers who may be at risk of loan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3152" cy="196596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88A8F"/>
                </a:solidFill>
                <a:latin typeface="Calibri"/>
              </a:rPr>
              <a:t>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216" y="1581912"/>
            <a:ext cx="299779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Loan Default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8424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Loan default occurs when a borrower fails to meet agreed repayment obligations. Early identification can support more informed credit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4173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417320"/>
            <a:ext cx="73152" cy="196596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88A8F"/>
                </a:solidFill>
                <a:latin typeface="Calibr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5920" y="1581912"/>
            <a:ext cx="295297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Machine Learning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8424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ML models learn patterns from applicant and loan information to estimate the likelihood that a loan may default.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41732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417320"/>
            <a:ext cx="73152" cy="196596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26D6D"/>
                </a:solidFill>
                <a:latin typeface="Calibri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3947" y="1581912"/>
            <a:ext cx="282971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1984248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Risk-based insights can help prioritise reviews, support lending decisions, and make credit assessment more consistent.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Project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51960"/>
            <a:ext cx="1600200" cy="96012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
Understanding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167128" y="4645152"/>
            <a:ext cx="256032" cy="146304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377439" y="4251960"/>
            <a:ext cx="1600200" cy="96012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
Cleaning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041648" y="4645152"/>
            <a:ext cx="256032" cy="146304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51959" y="4251960"/>
            <a:ext cx="1600200" cy="96012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16168" y="4645152"/>
            <a:ext cx="256032" cy="146304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26479" y="4251960"/>
            <a:ext cx="1600200" cy="96012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790688" y="4645152"/>
            <a:ext cx="256032" cy="146304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01000" y="4251960"/>
            <a:ext cx="1600200" cy="96012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
Training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65208" y="4645152"/>
            <a:ext cx="256032" cy="146304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875520" y="4251960"/>
            <a:ext cx="1600200" cy="96012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
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Problem Statement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Build a data-driven approach to assess loan-default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22860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Financial Risk of Defaults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Loan defaults can lead to financial losses and reduced lending profitability.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Defaults may also affect credit availability and portfolio quality.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Manual review alone can be time-consuming and inconsistent.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48640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417320"/>
            <a:ext cx="82296" cy="22860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62763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Project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10312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Predict loan default using applicant and loan-related information.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Compare baseline, interpretable, and ensemble classification models.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Evaluate performance using appropriate classification metrics.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Goal: Data-Driven Credit-Risk 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805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Identify risk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44805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470916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Support human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44805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70916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Improve consistency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4480560"/>
            <a:ext cx="26517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53144" y="470916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B2545"/>
                </a:solidFill>
                <a:latin typeface="Calibri"/>
              </a:rPr>
              <a:t>Enable further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Dataset and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Kaggle: Loan Default Prediction competition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2084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Dataset Source and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62179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Source: Kaggle — Loan Default Prediction competition.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Training data: loan_train.csv.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Test data: loan_test.csv.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The dataset contains information on past loan applicants and whether they defaulted.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2" y="1417320"/>
            <a:ext cx="4251960" cy="22860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162763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Target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2121408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 i="0">
                <a:solidFill>
                  <a:srgbClr val="2EA8AD"/>
                </a:solidFill>
                <a:latin typeface="Calibri"/>
              </a:rPr>
              <a:t>loan_status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D5E1EB"/>
                </a:solidFill>
                <a:latin typeface="Calibri"/>
              </a:rPr>
              <a:t>Binary classification target: whether a loan defaulted or not. Confirm exact labels and statistics from the notebook and source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Data Understanding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434840"/>
            <a:ext cx="73152" cy="16002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4599431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Feature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001768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Identify numerical, categorical, identifier, and date-like fields where applicable.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44348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19272" y="4434840"/>
            <a:ext cx="73152" cy="16002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75304" y="4599431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Missing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5001768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Check for missing entries and apply an appropriate, documented treatment strategy.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44348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35624" y="4434840"/>
            <a:ext cx="73152" cy="16002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4599431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5001768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Review duplicates, inconsistent formats, unusual values, and data-entry issues.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4434840"/>
            <a:ext cx="2697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951976" y="4434840"/>
            <a:ext cx="73152" cy="16002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08007" y="4599431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Target Balance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7" y="5001768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Inspect the distribution of default versus non-default cases before modelling.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End-to-end data science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Problem
Understanding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8648" y="2560320"/>
            <a:ext cx="384048" cy="182880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
Understanding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79008" y="2560320"/>
            <a:ext cx="384048" cy="182880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10312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
Cleaning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9367" y="2560320"/>
            <a:ext cx="384048" cy="182880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0" y="210312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Exploratory Data
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98648" y="4251960"/>
            <a:ext cx="384048" cy="182880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83280" y="379476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Model
Training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79008" y="4251960"/>
            <a:ext cx="384048" cy="182880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Model
Evaluation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59367" y="4251960"/>
            <a:ext cx="384048" cy="182880"/>
          </a:xfrm>
          <a:prstGeom prst="rightArrow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0" y="3794760"/>
            <a:ext cx="2331720" cy="105156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Business
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27080" y="3154680"/>
            <a:ext cx="109728" cy="50292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Data Cleaning and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Prepare consistent, model-ready data while preventing information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448056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Checked for missing values and applied a documented treatment strategy.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Checked for duplicate records and inconsistent entries.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Verified data types, formats, and categorical-value consistency.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Reviewed outliers and unusual values in context before modifying data.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Maintained a clear separation between training and test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417320"/>
            <a:ext cx="82296" cy="448056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6276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14884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Encoded categorical variables appropriately for each model.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Scaled or transformed numerical features where required.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Selected features based on relevance, availability, and model requirements.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Prevented data leakage by fitting preprocessing only on training data.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Applied the same preprocessing pipeline consistently during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Exploratory and Statistical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Understand distributions, relationships, and group differences before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3152" cy="20574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88A8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304" y="1581912"/>
            <a:ext cx="282971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Distributions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8424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Examined numerical-variable distributions and categorical-variable frequencies to understand data structure and potential quality issues.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417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417320"/>
            <a:ext cx="73152" cy="20574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88A8F"/>
                </a:solidFill>
                <a:latin typeface="Calibri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7126" y="1581912"/>
            <a:ext cx="281850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Relationships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8424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Reviewed correlations among numerical variables and explored patterns across applicant and loan-related groups.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41732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417320"/>
            <a:ext cx="73152" cy="20574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26D6D"/>
                </a:solidFill>
                <a:latin typeface="Calibri"/>
              </a:rPr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2741" y="1581912"/>
            <a:ext cx="281850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Group Differences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1984248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Compared distributions and proportions between default and non-default groups using appropriate statistical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39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Statistical Methods Used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0624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Mann–Whitney U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28032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A non-parametric test used to assess whether the distribution of a numerical variable differs between two independent groups, such as default and non-default borrowers.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206240"/>
            <a:ext cx="5486400" cy="16916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44074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Chi-Square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828032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A test used to examine whether there is an association between two categorical variables, such as a categorical attribute and the default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87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Baseline, interpretable benchmark, and ensemble classification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3611880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🎯  Dummy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Baseline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0632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5A6B7B"/>
                </a:solidFill>
                <a:latin typeface="Calibri"/>
              </a:rPr>
              <a:t>Provides a simple reference point using a basic strategy. It helps determine whether more complex models add meaningful predictive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50876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508760"/>
            <a:ext cx="3611880" cy="109728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5" y="181051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📈  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88A8F"/>
                </a:solidFill>
                <a:latin typeface="Calibri"/>
              </a:rPr>
              <a:t>Interpretable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2788920"/>
            <a:ext cx="30632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5A6B7B"/>
                </a:solidFill>
                <a:latin typeface="Calibri"/>
              </a:rPr>
              <a:t>A linear classification model that estimates the probability of default. It is relatively interpretable and useful for understanding feature-direction effects.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1" y="1508760"/>
            <a:ext cx="36118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1" y="1508760"/>
            <a:ext cx="3611880" cy="1097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181051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🌲  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33172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26D6D"/>
                </a:solidFill>
                <a:latin typeface="Calibri"/>
              </a:rPr>
              <a:t>Ensemble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788920"/>
            <a:ext cx="30632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5A6B7B"/>
                </a:solidFill>
                <a:latin typeface="Calibri"/>
              </a:rPr>
              <a:t>An ensemble of decision trees that can capture nonlinear relationships and feature interactions while reducing variance through aggregation.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Model Performance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508760"/>
          <a:ext cx="74066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Evaluation and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Key Recorded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Random Forest achieved the highest recorded F1-score: 0.388.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Logistic Regression achieved higher recorded recall: 0.725 versus 0.528 for Random Forest.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417320"/>
            <a:ext cx="82296" cy="20574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6276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Precision–Recall Trade-off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031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A model with higher recall identifies more potential defaults but may flag more non-default borrowers for review. Higher precision reduces unnecessary reviews but may miss more defaults. The appropriate balance depends on the lender’s risk appetite and review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Evaluation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6052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160520"/>
            <a:ext cx="73152" cy="18288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32511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27448"/>
            <a:ext cx="1645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Of the loans predicted as defaults, the proportion that are actually defaults.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61488" y="416052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61488" y="4160520"/>
            <a:ext cx="73152" cy="18288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0" y="432511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727448"/>
            <a:ext cx="1645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Of the actual defaults, the proportion correctly identified by the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0056" y="416052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0056" y="4160520"/>
            <a:ext cx="73152" cy="18288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76088" y="432511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F1-Score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4727448"/>
            <a:ext cx="1645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The harmonic mean of precision and recall; useful when both error types matter.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78624" y="416052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78624" y="4160520"/>
            <a:ext cx="73152" cy="18288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34656" y="432511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ROC-AUC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4727448"/>
            <a:ext cx="1645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Measures the model’s ability to rank default cases higher than non-default cases.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37192" y="4160520"/>
            <a:ext cx="2148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37192" y="4160520"/>
            <a:ext cx="73152" cy="182880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93224" y="432511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Confusion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3224" y="4727448"/>
            <a:ext cx="16459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Shows true positives, true negatives, false positives, and false negatives.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Model Interpretability and Business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224028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Interpretability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93776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Feature importance can indicate which inputs contributed most to tree-based model predictions.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Permutation importance assesses the change in model performance when a feature’s values are shuffled.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>
                <a:solidFill>
                  <a:srgbClr val="0B2545"/>
                </a:solidFill>
                <a:latin typeface="Calibri"/>
              </a:rPr>
              <a:t>•  Specific feature-importance rankings should be taken from the completed notebook rather than assumed.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48640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417320"/>
            <a:ext cx="82296" cy="224028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6276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Risk-Based Review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2148840"/>
            <a:ext cx="1508760" cy="685800"/>
          </a:xfrm>
          <a:prstGeom prst="roundRect">
            <a:avLst>
              <a:gd name="adj" fmla="val 18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2148840"/>
            <a:ext cx="1508760" cy="685800"/>
          </a:xfrm>
          <a:prstGeom prst="roundRect">
            <a:avLst>
              <a:gd name="adj" fmla="val 18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57232" y="2148840"/>
            <a:ext cx="1508760" cy="68580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Lower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97180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High-risk cases: additional manual review.  Medium-risk cases: further verification.  Lower-risk cases: standard process, subject to policy.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86200"/>
            <a:ext cx="11183112" cy="1051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Human-in-the-Loop Principle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Model predictions should support human decisions, not replace them. Final lending decisions should consider model output alongside policy, affordability, documentation, and responsible-lending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Recommended 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77840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568756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Apply additional manual review to high-risk predictions.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9272" y="5577840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83864" y="568756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Request further verification for medium-risk cases.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5577840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0216" y="568756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Monitor model outputs and review decisions over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976" y="5577840"/>
            <a:ext cx="26974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16567" y="568756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0B2545"/>
                </a:solidFill>
                <a:latin typeface="Calibri"/>
              </a:rPr>
              <a:t>Use interpretability results as decision support, not automatic approval or rejection.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56692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0B2545"/>
                </a:solidFill>
                <a:latin typeface="Calibri"/>
              </a:rPr>
              <a:t>Limitations and 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2743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Tanvi Ghatul |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Loan Default 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3152" cy="210312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26D6D"/>
                </a:solidFill>
                <a:latin typeface="Calibr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304" y="1581912"/>
            <a:ext cx="2829711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Classification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84248"/>
            <a:ext cx="3108960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False positives may lead to unnecessary manual review, while false negatives may overlook borrowers who later default. Both error types should be monitored.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4173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417320"/>
            <a:ext cx="73152" cy="210312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88A8F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7126" y="1581912"/>
            <a:ext cx="281850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Model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84248"/>
            <a:ext cx="3108960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Predicted probabilities should be checked against observed default rates. Calibration assessment can help ensure risk scores are meaningful in practice.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4173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417320"/>
            <a:ext cx="73152" cy="210312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5819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88A8F"/>
                </a:solidFill>
                <a:latin typeface="Calibri"/>
              </a:rPr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7918" y="1570706"/>
            <a:ext cx="28633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Fairness and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1984248"/>
            <a:ext cx="3108960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Evaluate performance across relevant applicant groups where appropriate and monitor for performance drift as borrower and market conditions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Future Improvements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519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251960"/>
            <a:ext cx="73152" cy="178308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416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81888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Use consistent preprocessing, version-controlled code, fixed random states where applicable, and documented evaluation steps.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9272" y="42519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19272" y="4251960"/>
            <a:ext cx="73152" cy="178308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75304" y="4416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Time-Based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481888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Where loan origination dates are available and appropriate, use time-based validation to better reflect real-world deployment.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42519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35624" y="4251960"/>
            <a:ext cx="73152" cy="1783080"/>
          </a:xfrm>
          <a:prstGeom prst="rect">
            <a:avLst/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4416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481888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Re-run the notebook, validate preprocessing, and independently verify all reported metrics before final submission.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4251960"/>
            <a:ext cx="26974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51976" y="4251960"/>
            <a:ext cx="73152" cy="178308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08007" y="4416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Performance Improvement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7" y="4818888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Explore additional feature engineering, model tuning, calibration, and alternative algorithms using a controlled validation process.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57607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chemeClr val="bg1"/>
                </a:solidFill>
                <a:latin typeface="Calibri"/>
              </a:rPr>
              <a:t>CONCLUSION</a:t>
            </a:r>
            <a:endParaRPr lang="en-US" sz="3600" b="1" i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778137" y="1903567"/>
            <a:ext cx="3108511" cy="126492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474259"/>
            <a:ext cx="5486400" cy="155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Completed data understanding, cleaning, EDA, feature engineering, modelling, and evaluation</a:t>
            </a:r>
            <a:r>
              <a:rPr lang="en-US" sz="1400">
                <a:solidFill>
                  <a:srgbClr val="FFFFFF"/>
                </a:solidFill>
                <a:latin typeface="Calibri"/>
              </a:rPr>
              <a:t>.</a:t>
            </a:r>
            <a:endParaRPr lang="en-US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en-US" sz="1400">
                <a:solidFill>
                  <a:srgbClr val="FFFFFF"/>
                </a:solidFill>
                <a:latin typeface="Calibri"/>
              </a:rPr>
              <a:t>•</a:t>
            </a:r>
            <a:r>
              <a:rPr sz="1400">
                <a:solidFill>
                  <a:srgbClr val="FFFFFF"/>
                </a:solidFill>
                <a:latin typeface="Calibri"/>
              </a:rPr>
              <a:t>  Gained practical experience with Python, data analysis, statistical testing, and machine learning.</a:t>
            </a:r>
            <a:endParaRPr lang="en-US"/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Compared baseline, interpretable, and ensemble classification approaches.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7152" y="1327225"/>
            <a:ext cx="3794760" cy="2926080"/>
          </a:xfrm>
          <a:prstGeom prst="roundRect">
            <a:avLst>
              <a:gd name="adj" fmla="val 9000"/>
            </a:avLst>
          </a:prstGeom>
          <a:solidFill>
            <a:srgbClr val="18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12237" y="2031851"/>
            <a:ext cx="4904590" cy="1123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500" b="0" i="0" dirty="0">
                <a:solidFill>
                  <a:srgbClr val="E2F5F6"/>
                </a:solidFill>
                <a:latin typeface="Calibri"/>
              </a:rPr>
              <a:t>Tanvi </a:t>
            </a:r>
            <a:r>
              <a:rPr sz="2500" b="0" i="0" dirty="0" err="1">
                <a:solidFill>
                  <a:srgbClr val="E2F5F6"/>
                </a:solidFill>
                <a:latin typeface="Calibri"/>
              </a:rPr>
              <a:t>Ghatul</a:t>
            </a:r>
            <a:r>
              <a:rPr sz="2500" b="0" i="0" dirty="0">
                <a:solidFill>
                  <a:srgbClr val="E2F5F6"/>
                </a:solidFill>
                <a:latin typeface="Calibri"/>
              </a:rPr>
              <a:t> | Data Science</a:t>
            </a:r>
            <a:endParaRPr sz="2500" b="0" i="0" dirty="0">
              <a:solidFill>
                <a:srgbClr val="E2F5F6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59</cp:revision>
  <dcterms:created xsi:type="dcterms:W3CDTF">2013-01-27T09:14:16Z</dcterms:created>
  <dcterms:modified xsi:type="dcterms:W3CDTF">2026-10-26T17:02:56Z</dcterms:modified>
  <cp:category/>
</cp:coreProperties>
</file>